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6858000" cx="12192000"/>
  <p:notesSz cx="6858000" cy="9144000"/>
  <p:embeddedFontLst>
    <p:embeddedFont>
      <p:font typeface="Lato"/>
      <p:regular r:id="rId12"/>
      <p:bold r:id="rId13"/>
      <p:italic r:id="rId14"/>
      <p:boldItalic r:id="rId15"/>
    </p:embeddedFont>
    <p:embeddedFont>
      <p:font typeface="Poppins"/>
      <p:regular r:id="rId16"/>
      <p:bold r:id="rId17"/>
      <p:italic r:id="rId18"/>
      <p:boldItalic r:id="rId19"/>
    </p:embeddedFont>
    <p:embeddedFont>
      <p:font typeface="Lato Black"/>
      <p:bold r:id="rId20"/>
      <p:boldItalic r:id="rId21"/>
    </p:embeddedFont>
    <p:embeddedFont>
      <p:font typeface="Poppins SemiBold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080E9DA-0BEB-4723-A766-401C1A1DD618}">
  <a:tblStyle styleId="{A080E9DA-0BEB-4723-A766-401C1A1DD61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Black-bold.fntdata"/><Relationship Id="rId22" Type="http://schemas.openxmlformats.org/officeDocument/2006/relationships/font" Target="fonts/PoppinsSemiBold-regular.fntdata"/><Relationship Id="rId21" Type="http://schemas.openxmlformats.org/officeDocument/2006/relationships/font" Target="fonts/LatoBlack-boldItalic.fntdata"/><Relationship Id="rId24" Type="http://schemas.openxmlformats.org/officeDocument/2006/relationships/font" Target="fonts/PoppinsSemiBold-italic.fntdata"/><Relationship Id="rId23" Type="http://schemas.openxmlformats.org/officeDocument/2006/relationships/font" Target="fonts/Poppins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PoppinsSemi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Lato-bold.fntdata"/><Relationship Id="rId12" Type="http://schemas.openxmlformats.org/officeDocument/2006/relationships/font" Target="fonts/Lato-regular.fntdata"/><Relationship Id="rId15" Type="http://schemas.openxmlformats.org/officeDocument/2006/relationships/font" Target="fonts/Lato-boldItalic.fntdata"/><Relationship Id="rId14" Type="http://schemas.openxmlformats.org/officeDocument/2006/relationships/font" Target="fonts/Lato-italic.fntdata"/><Relationship Id="rId17" Type="http://schemas.openxmlformats.org/officeDocument/2006/relationships/font" Target="fonts/Poppins-bold.fntdata"/><Relationship Id="rId16" Type="http://schemas.openxmlformats.org/officeDocument/2006/relationships/font" Target="fonts/Poppins-regular.fntdata"/><Relationship Id="rId19" Type="http://schemas.openxmlformats.org/officeDocument/2006/relationships/font" Target="fonts/Poppins-boldItalic.fntdata"/><Relationship Id="rId18" Type="http://schemas.openxmlformats.org/officeDocument/2006/relationships/font" Target="fonts/Poppins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8.png"/><Relationship Id="rId7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11" Type="http://schemas.openxmlformats.org/officeDocument/2006/relationships/image" Target="../media/image12.png"/><Relationship Id="rId10" Type="http://schemas.openxmlformats.org/officeDocument/2006/relationships/image" Target="../media/image18.png"/><Relationship Id="rId12" Type="http://schemas.openxmlformats.org/officeDocument/2006/relationships/image" Target="../media/image14.png"/><Relationship Id="rId9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image" Target="../media/image9.png"/><Relationship Id="rId7" Type="http://schemas.openxmlformats.org/officeDocument/2006/relationships/image" Target="../media/image2.png"/><Relationship Id="rId8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7250" y="4590008"/>
            <a:ext cx="28575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857625" y="2087016"/>
            <a:ext cx="4476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MACHINE LEARNING SYSTEMS REPORT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860595" y="2344191"/>
            <a:ext cx="6470808" cy="1226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AF9F6"/>
                </a:solidFill>
                <a:latin typeface="Poppins"/>
                <a:ea typeface="Poppins"/>
                <a:cs typeface="Poppins"/>
                <a:sym typeface="Poppins"/>
              </a:rPr>
              <a:t>Global Crop Production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200" u="none" cap="none" strike="noStrike">
                <a:solidFill>
                  <a:srgbClr val="FAF9F6"/>
                </a:solidFill>
                <a:latin typeface="Poppins"/>
                <a:ea typeface="Poppins"/>
                <a:cs typeface="Poppins"/>
                <a:sym typeface="Poppins"/>
              </a:rPr>
              <a:t> Forecasting Engine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843212" y="3808958"/>
            <a:ext cx="65055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AF9F6"/>
                </a:solidFill>
                <a:latin typeface="Lato"/>
                <a:ea typeface="Lato"/>
                <a:cs typeface="Lato"/>
                <a:sym typeface="Lato"/>
              </a:rPr>
              <a:t>MODEL VALIDATION, REAL-TIME INTERACTIVITY &amp; SUPPLY CHAIN INTEGRATION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86575" y="1937295"/>
            <a:ext cx="454342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933450" y="571500"/>
            <a:ext cx="11021377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A3A30"/>
                </a:solidFill>
                <a:latin typeface="Poppins"/>
                <a:ea typeface="Poppins"/>
                <a:cs typeface="Poppins"/>
                <a:sym typeface="Poppins"/>
              </a:rPr>
              <a:t>Executive Summary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762000" y="571500"/>
            <a:ext cx="57150" cy="39811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762000" y="1891605"/>
            <a:ext cx="583072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A3A30"/>
                </a:solidFill>
                <a:latin typeface="Poppins"/>
                <a:ea typeface="Poppins"/>
                <a:cs typeface="Poppins"/>
                <a:sym typeface="Poppins"/>
              </a:rPr>
              <a:t>Bridging Agriculture &amp; ML Operations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2346126"/>
            <a:ext cx="5553075" cy="776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Global crop production contains complex, non-linear relationships determined by regional boundaries, environmental footprints, and localized yields. Simple baseline projection systems fail to recognize these operational dynamics.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62000" y="3284934"/>
            <a:ext cx="5553075" cy="1035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By contrasting a baseline </a:t>
            </a:r>
            <a:r>
              <a:rPr b="1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Linear Regression (Ridge)</a:t>
            </a:r>
            <a:r>
              <a:rPr b="0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model with an advanced </a:t>
            </a:r>
            <a:r>
              <a:rPr b="1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Random Forest Ensemble</a:t>
            </a:r>
            <a:r>
              <a:rPr b="0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, this deployment verification report highlights the immense business value unlocked by transitioning to highly accurate, structural systems.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96100" y="1946820"/>
            <a:ext cx="452437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1028700" y="4482703"/>
            <a:ext cx="528637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Validation Scope:</a:t>
            </a:r>
            <a:r>
              <a:rPr b="0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44,986 clean, high-fidelity rows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28700" y="4855964"/>
            <a:ext cx="528637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Feature Complexity:</a:t>
            </a:r>
            <a:r>
              <a:rPr b="0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Standard scaling paired with 360 categorical columns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028700" y="5229225"/>
            <a:ext cx="528637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Infrastructure Ready:</a:t>
            </a:r>
            <a:r>
              <a:rPr b="0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Integrated with interactive corporate systems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62000" y="4482703"/>
            <a:ext cx="1619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0B981"/>
                </a:solidFill>
                <a:latin typeface="Lato Black"/>
                <a:ea typeface="Lato Black"/>
                <a:cs typeface="Lato Black"/>
                <a:sym typeface="Lato Black"/>
              </a:rPr>
              <a:t>✓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62000" y="4855964"/>
            <a:ext cx="1619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0B981"/>
                </a:solidFill>
                <a:latin typeface="Lato Black"/>
                <a:ea typeface="Lato Black"/>
                <a:cs typeface="Lato Black"/>
                <a:sym typeface="Lato Black"/>
              </a:rPr>
              <a:t>✓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62000" y="5229225"/>
            <a:ext cx="1619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0B981"/>
                </a:solidFill>
                <a:latin typeface="Lato Black"/>
                <a:ea typeface="Lato Black"/>
                <a:cs typeface="Lato Black"/>
                <a:sym typeface="Lato Black"/>
              </a:rPr>
              <a:t>✓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40731" y="5210323"/>
            <a:ext cx="1440656" cy="5500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46193" y="5210323"/>
            <a:ext cx="1696045" cy="50720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933450" y="571500"/>
            <a:ext cx="11021377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A3A30"/>
                </a:solidFill>
                <a:latin typeface="Poppins"/>
                <a:ea typeface="Poppins"/>
                <a:cs typeface="Poppins"/>
                <a:sym typeface="Poppins"/>
              </a:rPr>
              <a:t>Model Performance Evaluation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762000" y="571500"/>
            <a:ext cx="57150" cy="39811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762000" y="1733698"/>
            <a:ext cx="10668000" cy="28194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7" name="Google Shape;117;p15"/>
          <p:cNvGraphicFramePr/>
          <p:nvPr/>
        </p:nvGraphicFramePr>
        <p:xfrm>
          <a:off x="762000" y="173369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{A080E9DA-0BEB-4723-A766-401C1A1DD618}</a:tableStyleId>
              </a:tblPr>
              <a:tblGrid>
                <a:gridCol w="1991025"/>
                <a:gridCol w="2201025"/>
                <a:gridCol w="2222150"/>
                <a:gridCol w="2171400"/>
                <a:gridCol w="2072875"/>
              </a:tblGrid>
              <a:tr h="704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AF9F6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Evaluation Environment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3A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AF9F6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Statistical 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3A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AF9F6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Baseline (Linear Regression)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3A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AF9F6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Champion (Random Forest)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3A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AF9F6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Performance Verdict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3A30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F293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Validation Set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F293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R² (Coefficient of Determination)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F293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48.42%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F293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97.11%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F293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Strong non-linear recognition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F293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Validation Set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F293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Mean Absolute Error (MAE)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F293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1,782,323 Tons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F293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78,021 Tons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F293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Error reduced by 95.6%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F293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Holdout Test Set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F293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R² (Coefficient of Determination)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F293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Not Evaluated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F293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96.86%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F293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Passed</a:t>
                      </a:r>
                      <a:r>
                        <a:rPr b="0" i="0" lang="en-US" sz="1200" u="none" cap="none" strike="noStrike">
                          <a:solidFill>
                            <a:srgbClr val="1F2937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(No Overfitting)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8" name="Google Shape;118;p15"/>
          <p:cNvSpPr txBox="1"/>
          <p:nvPr/>
        </p:nvSpPr>
        <p:spPr>
          <a:xfrm>
            <a:off x="2040731" y="4838848"/>
            <a:ext cx="2762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3A30"/>
                </a:solidFill>
                <a:latin typeface="Lato"/>
                <a:ea typeface="Lato"/>
                <a:cs typeface="Lato"/>
                <a:sym typeface="Lato"/>
              </a:rPr>
              <a:t>R² Coefficient of Determination Formula: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7646193" y="4838848"/>
            <a:ext cx="25050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A3A30"/>
                </a:solidFill>
                <a:latin typeface="Lato"/>
                <a:ea typeface="Lato"/>
                <a:cs typeface="Lato"/>
                <a:sym typeface="Lato"/>
              </a:rPr>
              <a:t>Mean Absolute Error (MAE) Formula: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35981" y="5305573"/>
            <a:ext cx="1250156" cy="3595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41443" y="5305573"/>
            <a:ext cx="1505545" cy="316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699295"/>
            <a:ext cx="4162425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933450" y="571500"/>
            <a:ext cx="11021377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A3A30"/>
                </a:solidFill>
                <a:latin typeface="Poppins"/>
                <a:ea typeface="Poppins"/>
                <a:cs typeface="Poppins"/>
                <a:sym typeface="Poppins"/>
              </a:rPr>
              <a:t>Why Random Forest Succeeded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762000" y="571500"/>
            <a:ext cx="57150" cy="39811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1162050" y="3099345"/>
            <a:ext cx="33624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00" u="none" cap="none" strike="noStrike">
                <a:solidFill>
                  <a:srgbClr val="D97706"/>
                </a:solidFill>
                <a:latin typeface="Poppins"/>
                <a:ea typeface="Poppins"/>
                <a:cs typeface="Poppins"/>
                <a:sym typeface="Poppins"/>
              </a:rPr>
              <a:t>96.86%</a:t>
            </a:r>
            <a:endParaRPr sz="1100"/>
          </a:p>
        </p:txBody>
      </p:sp>
      <p:sp>
        <p:nvSpPr>
          <p:cNvPr id="131" name="Google Shape;131;p16"/>
          <p:cNvSpPr txBox="1"/>
          <p:nvPr/>
        </p:nvSpPr>
        <p:spPr>
          <a:xfrm>
            <a:off x="1162050" y="4108995"/>
            <a:ext cx="3362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A3A3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Holdout Test R² Score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5495925" y="1762125"/>
            <a:ext cx="623077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A3A30"/>
                </a:solidFill>
                <a:latin typeface="Poppins"/>
                <a:ea typeface="Poppins"/>
                <a:cs typeface="Poppins"/>
                <a:sym typeface="Poppins"/>
              </a:rPr>
              <a:t>The Power of Conditional Splitting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5495925" y="2216646"/>
            <a:ext cx="5934075" cy="776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Agriculture does not grow in a straight, uniform line. A linear equation assumes that adding land area always yields the exact same volume of crops, regardless of region, technology, or item category.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495925" y="3155453"/>
            <a:ext cx="5934075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b="1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Random Forest Champion Model</a:t>
            </a:r>
            <a:r>
              <a:rPr b="0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handles non-linear structures using dynamic, nested decision tree networks: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5762625" y="3835300"/>
            <a:ext cx="5667375" cy="517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Contextual Branching:</a:t>
            </a:r>
            <a:r>
              <a:rPr b="0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Looks at regional variables and soil capabilities before analyzing physical land size metrics.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5762625" y="4467527"/>
            <a:ext cx="58287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Strict Upper and Lower Boundaries:</a:t>
            </a:r>
            <a:r>
              <a:rPr b="0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Restricts all volume guesses to actual observed physical properties, completely eliminating impossible negative outputs.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5495925" y="3835300"/>
            <a:ext cx="1619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0B981"/>
                </a:solidFill>
                <a:latin typeface="Lato Black"/>
                <a:ea typeface="Lato Black"/>
                <a:cs typeface="Lato Black"/>
                <a:sym typeface="Lato Black"/>
              </a:rPr>
              <a:t>✓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5495925" y="4467522"/>
            <a:ext cx="1619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10B981"/>
                </a:solidFill>
                <a:latin typeface="Lato Black"/>
                <a:ea typeface="Lato Black"/>
                <a:cs typeface="Lato Black"/>
                <a:sym typeface="Lato Black"/>
              </a:rPr>
              <a:t>✓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5495925" y="5099744"/>
            <a:ext cx="162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9F6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927175"/>
            <a:ext cx="3397150" cy="36397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7275" y="1927175"/>
            <a:ext cx="3397299" cy="36397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2700" y="1927175"/>
            <a:ext cx="3397150" cy="363974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933450" y="571500"/>
            <a:ext cx="11021377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A3A30"/>
                </a:solidFill>
                <a:latin typeface="Poppins"/>
                <a:ea typeface="Poppins"/>
                <a:cs typeface="Poppins"/>
                <a:sym typeface="Poppins"/>
              </a:rPr>
              <a:t>Operational Business Actions</a:t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762000" y="571500"/>
            <a:ext cx="57150" cy="39811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0" name="Google Shape;15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22224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1057275" y="2984450"/>
            <a:ext cx="294693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Freight Booking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1057275" y="3555950"/>
            <a:ext cx="2806600" cy="1553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Predict regional crop outputs months before harvest. Procurement groups can pre-book sea and rail cargo containers at lower contract rates, avoiding volatile spot markets during high seasonal bottlenecks.</a:t>
            </a:r>
            <a:endParaRPr/>
          </a:p>
        </p:txBody>
      </p:sp>
      <p:pic>
        <p:nvPicPr>
          <p:cNvPr descr="image.png" id="153" name="Google Shape;15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2550" y="22224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4692550" y="2984450"/>
            <a:ext cx="294708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Risk Sourcing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4692550" y="3555950"/>
            <a:ext cx="2806749" cy="1294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Conduct quick simulated pipeline stress tests. Instantly evaluate geographic shortfalls (e.g., simulating a localized land output reduction) and locate stable alternative supplier countries.</a:t>
            </a:r>
            <a:endParaRPr/>
          </a:p>
        </p:txBody>
      </p:sp>
      <p:pic>
        <p:nvPicPr>
          <p:cNvPr descr="image.png" id="156" name="Google Shape;156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27975" y="22224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8327975" y="2984450"/>
            <a:ext cx="294693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Anomaly Audits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8327975" y="3555950"/>
            <a:ext cx="2806600" cy="1553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Run automated background anomaly audits. If actual field reports significantly deviate from the model's expected harvest, the system triggers alerts for inspection of localized blights or data errors.</a:t>
            </a:r>
            <a:endParaRPr/>
          </a:p>
        </p:txBody>
      </p:sp>
      <p:pic>
        <p:nvPicPr>
          <p:cNvPr descr="image.png" id="159" name="Google Shape;159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14437" y="239390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64000" y="23939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99425" y="2393900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